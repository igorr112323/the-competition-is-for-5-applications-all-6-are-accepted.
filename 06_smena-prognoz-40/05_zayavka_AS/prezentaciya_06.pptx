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Смена-Прогноз-40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Носимая система мониторинга с прогнозом теплового стресса за 40 минут</a:t>
            </a:r>
          </a:p>
          <a:p>
            <a:br/>
            <a:pPr>
              <a:defRPr sz="1400">
                <a:solidFill>
                  <a:srgbClr val="6B7280"/>
                </a:solidFill>
              </a:defRPr>
            </a:pPr>
            <a:r>
              <a:t>ФСИ «Старт-Пром-1», очередь 4 | Руководитель: Самурганов Е.Е.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Проблема и цель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Рынок</a:t>
            </a:r>
          </a:p>
          <a:p>
            <a:pPr>
              <a:defRPr sz="1400"/>
            </a:pPr>
            <a:r>
              <a:t>Kenzen ($300–500), SlateSafety ($200–500)</a:t>
            </a:r>
          </a:p>
          <a:p>
            <a:br/>
            <a:pPr>
              <a:defRPr sz="1400" b="1"/>
            </a:pPr>
            <a:r>
              <a:t>Целевая стоимость: 3000 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Преимущества</a:t>
            </a:r>
          </a:p>
          <a:p>
            <a:pPr>
              <a:defRPr sz="1400"/>
            </a:pPr>
            <a:r>
              <a:t>Стоимость ≤3000 ₽ (vs $200–500); прогноз за 40 мин; интеграция с диспетчерской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Ключевые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✓ nRF52832 + AFE4404 + MLX90614 + AD5940</a:t>
            </a:r>
          </a:p>
          <a:p>
            <a:pPr>
              <a:spcAft>
                <a:spcPts val="1000"/>
              </a:spcAft>
              <a:defRPr sz="1800"/>
            </a:pPr>
            <a:r>
              <a:t>✓ CatBoost: прогноз за 40 мин, точность ≥85%</a:t>
            </a:r>
          </a:p>
          <a:p>
            <a:pPr>
              <a:spcAft>
                <a:spcPts val="1000"/>
              </a:spcAft>
              <a:defRPr sz="1800"/>
            </a:pPr>
            <a:r>
              <a:t>✓ PPG + КГР + температура кожи + акселерометр</a:t>
            </a:r>
          </a:p>
          <a:p>
            <a:pPr>
              <a:spcAft>
                <a:spcPts val="1000"/>
              </a:spcAft>
              <a:defRPr sz="1800"/>
            </a:pPr>
            <a:r>
              <a:t>✓ Корпус силикон, IP67</a:t>
            </a:r>
          </a:p>
          <a:p>
            <a:pPr>
              <a:spcAft>
                <a:spcPts val="1000"/>
              </a:spcAft>
              <a:defRPr sz="1800"/>
            </a:pPr>
            <a:r>
              <a:t>✓ MTBF: ≥4 000 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Бюджет и этапы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Общий бюджет: 980 000 руб.</a:t>
            </a:r>
          </a:p>
          <a:p>
            <a:pPr>
              <a:defRPr sz="1800"/>
            </a:pPr>
            <a:r>
              <a:t>Срок: 18 месяцев | TRL: 3 → 6</a:t>
            </a:r>
          </a:p>
          <a:p>
            <a:br/>
            <a:pPr>
              <a:defRPr sz="1600" b="1"/>
            </a:pPr>
            <a:r>
              <a:t>Этап 1 (мес. 1–8): Разработка прототипа</a:t>
            </a:r>
          </a:p>
          <a:p>
            <a:pPr>
              <a:defRPr sz="1600"/>
            </a:pPr>
            <a:r>
              <a:t>Этап 2 (мес. 9–14): Опытная партия и испытания</a:t>
            </a:r>
          </a:p>
          <a:p>
            <a:pPr>
              <a:defRPr sz="1600"/>
            </a:pPr>
            <a:r>
              <a:t>Этап 3 (мес. 15–18): Документация и передача результатов</a:t>
            </a:r>
          </a:p>
          <a:p>
            <a:br/>
            <a:pPr>
              <a:defRPr sz="1200" i="1">
                <a:solidFill>
                  <a:srgbClr val="6B7280"/>
                </a:solidFill>
              </a:defRPr>
            </a:pPr>
            <a:r>
              <a:t>Патентование РИД финансируется из собственных средств заявителя и не включено в бюджет гранта.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