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2563EB"/>
                </a:solidFill>
              </a:defRPr>
            </a:pPr>
            <a:r>
              <a:t>ОптикоЗор-2,0</a:t>
            </a:r>
          </a:p>
          <a:p>
            <a:pPr>
              <a:defRPr sz="2000">
                <a:solidFill>
                  <a:srgbClr val="374151"/>
                </a:solidFill>
              </a:defRPr>
            </a:pPr>
            <a:r>
              <a:t>Высокоскоростная система машинного зрения для инспекции полупроводниковых пластин</a:t>
            </a:r>
          </a:p>
          <a:p>
            <a:br/>
            <a:pPr>
              <a:defRPr sz="1400">
                <a:solidFill>
                  <a:srgbClr val="6B7280"/>
                </a:solidFill>
              </a:defRPr>
            </a:pPr>
            <a:r>
              <a:t>ФСИ «Старт-Пром-1», очередь 4 | Руководитель: Богус А.Э.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563EB"/>
                </a:solidFill>
              </a:defRPr>
            </a:pPr>
            <a:r>
              <a:t>Проблема и цель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/>
            </a:pPr>
            <a:r>
              <a:t>Рынок</a:t>
            </a:r>
          </a:p>
          <a:p>
            <a:pPr>
              <a:defRPr sz="1400"/>
            </a:pPr>
            <a:r>
              <a:t>KLA-Tencor Surfscan (&gt;$5M), Lasertec MA-T (&gt;$5M)</a:t>
            </a:r>
          </a:p>
          <a:p>
            <a:br/>
            <a:pPr>
              <a:defRPr sz="1400" b="1"/>
            </a:pPr>
            <a:r>
              <a:t>Целевая стоимость: 45 000 000 ₽ (~$500K)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/>
            </a:pPr>
            <a:r>
              <a:t>Преимущества</a:t>
            </a:r>
          </a:p>
          <a:p>
            <a:pPr>
              <a:defRPr sz="1400"/>
            </a:pPr>
            <a:r>
              <a:t>Стоимость ≤$500K (vs &gt;$5M); гиперспектральный анализ; ≥50 пластин/час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563EB"/>
                </a:solidFill>
              </a:defRPr>
            </a:pPr>
            <a:r>
              <a:t>Ключевые результаты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✓ 4K CMOS-линейка (1 мкм/пиксель)</a:t>
            </a:r>
          </a:p>
          <a:p>
            <a:pPr>
              <a:spcAft>
                <a:spcPts val="1000"/>
              </a:spcAft>
              <a:defRPr sz="1800"/>
            </a:pPr>
            <a:r>
              <a:t>✓ Гиперспектральный осветитель (400–900 нм)</a:t>
            </a:r>
          </a:p>
          <a:p>
            <a:pPr>
              <a:spcAft>
                <a:spcPts val="1000"/>
              </a:spcAft>
              <a:defRPr sz="1800"/>
            </a:pPr>
            <a:r>
              <a:t>✓ FPGA Zynq UltraScale+</a:t>
            </a:r>
          </a:p>
          <a:p>
            <a:pPr>
              <a:spcAft>
                <a:spcPts val="1000"/>
              </a:spcAft>
              <a:defRPr sz="1800"/>
            </a:pPr>
            <a:r>
              <a:t>✓ PCA + автоэнкодеры для детекции</a:t>
            </a:r>
          </a:p>
          <a:p>
            <a:pPr>
              <a:spcAft>
                <a:spcPts val="1000"/>
              </a:spcAft>
              <a:defRPr sz="1800"/>
            </a:pPr>
            <a:r>
              <a:t>✓ MTBF: ≥8 000 ч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563EB"/>
                </a:solidFill>
              </a:defRPr>
            </a:pPr>
            <a:r>
              <a:t>Бюджет и этапы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/>
            </a:pPr>
            <a:r>
              <a:t>Общий бюджет: 1 500 000 руб.</a:t>
            </a:r>
          </a:p>
          <a:p>
            <a:pPr>
              <a:defRPr sz="1800"/>
            </a:pPr>
            <a:r>
              <a:t>Срок: 18 месяцев | TRL: 3 → 6</a:t>
            </a:r>
          </a:p>
          <a:p>
            <a:br/>
            <a:pPr>
              <a:defRPr sz="1600" b="1"/>
            </a:pPr>
            <a:r>
              <a:t>Этап 1 (мес. 1–8): Разработка прототипа</a:t>
            </a:r>
          </a:p>
          <a:p>
            <a:pPr>
              <a:defRPr sz="1600"/>
            </a:pPr>
            <a:r>
              <a:t>Этап 2 (мес. 9–14): Опытная партия и испытания</a:t>
            </a:r>
          </a:p>
          <a:p>
            <a:pPr>
              <a:defRPr sz="1600"/>
            </a:pPr>
            <a:r>
              <a:t>Этап 3 (мес. 15–18): Документация и передача результатов</a:t>
            </a:r>
          </a:p>
          <a:p>
            <a:br/>
            <a:pPr>
              <a:defRPr sz="1200" i="1">
                <a:solidFill>
                  <a:srgbClr val="6B7280"/>
                </a:solidFill>
              </a:defRPr>
            </a:pPr>
            <a:r>
              <a:t>Патентование РИД финансируется из собственных средств заявителя и не включено в бюджет гранта.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