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2563EB"/>
                </a:solidFill>
              </a:defRPr>
            </a:pPr>
            <a:r>
              <a:t>ВетПЦР-Чемодан</a:t>
            </a:r>
          </a:p>
          <a:p>
            <a:pPr>
              <a:defRPr sz="2000">
                <a:solidFill>
                  <a:srgbClr val="374151"/>
                </a:solidFill>
              </a:defRPr>
            </a:pPr>
            <a:r>
              <a:t>Портативная ПЦР-лаборатория для полевой диагностики ветеринарных инфекций</a:t>
            </a:r>
          </a:p>
          <a:p>
            <a:br/>
            <a:pPr>
              <a:defRPr sz="1400">
                <a:solidFill>
                  <a:srgbClr val="6B7280"/>
                </a:solidFill>
              </a:defRPr>
            </a:pPr>
            <a:r>
              <a:t>ФСИ «Старт-Пром-1», очередь 4 | Руководитель: Инюкина Т.А.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Проблема и цель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Рынок</a:t>
            </a:r>
          </a:p>
          <a:p>
            <a:pPr>
              <a:defRPr sz="1400"/>
            </a:pPr>
            <a:r>
              <a:t>Портативные ПЦР: Biomeme Two3 (~$3500), miniPCR (~$650)</a:t>
            </a:r>
          </a:p>
          <a:p>
            <a:br/>
            <a:pPr>
              <a:defRPr sz="1400" b="1"/>
            </a:pPr>
            <a:r>
              <a:t>Целевая стоимость: 45 000 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Преимущества</a:t>
            </a:r>
          </a:p>
          <a:p>
            <a:pPr>
              <a:defRPr sz="1400"/>
            </a:pPr>
            <a:r>
              <a:t>Время от пробы до результата ≤90 мин (vs 3–5 суток); 4 канала; GPS-привязка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Ключевые 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✓ Термоблок с Пельтье (55–95 °C, ≥4 °C/с)</a:t>
            </a:r>
          </a:p>
          <a:p>
            <a:pPr>
              <a:spcAft>
                <a:spcPts val="1000"/>
              </a:spcAft>
              <a:defRPr sz="1800"/>
            </a:pPr>
            <a:r>
              <a:t>✓ 4-канальный детектор (FAM/HEX/ROX/Cy5)</a:t>
            </a:r>
          </a:p>
          <a:p>
            <a:pPr>
              <a:spcAft>
                <a:spcPts val="1000"/>
              </a:spcAft>
              <a:defRPr sz="1800"/>
            </a:pPr>
            <a:r>
              <a:t>✓ Охлаждение реагентов 4±2 °C (PCM)</a:t>
            </a:r>
          </a:p>
          <a:p>
            <a:pPr>
              <a:spcAft>
                <a:spcPts val="1000"/>
              </a:spcAft>
              <a:defRPr sz="1800"/>
            </a:pPr>
            <a:r>
              <a:t>✓ GPS-привязка + BLE</a:t>
            </a:r>
          </a:p>
          <a:p>
            <a:pPr>
              <a:spcAft>
                <a:spcPts val="1000"/>
              </a:spcAft>
              <a:defRPr sz="1800"/>
            </a:pPr>
            <a:r>
              <a:t>✓ MTBF: 65 359 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Бюджет и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Общий бюджет: 1 250 000 руб.</a:t>
            </a:r>
          </a:p>
          <a:p>
            <a:pPr>
              <a:defRPr sz="1800"/>
            </a:pPr>
            <a:r>
              <a:t>Срок: 18 месяцев | TRL: 3 → 6</a:t>
            </a:r>
          </a:p>
          <a:p>
            <a:br/>
            <a:pPr>
              <a:defRPr sz="1600" b="1"/>
            </a:pPr>
            <a:r>
              <a:t>Этап 1 (мес. 1–8): Разработка прототипа</a:t>
            </a:r>
          </a:p>
          <a:p>
            <a:pPr>
              <a:defRPr sz="1600"/>
            </a:pPr>
            <a:r>
              <a:t>Этап 2 (мес. 9–14): Опытная партия и испытания</a:t>
            </a:r>
          </a:p>
          <a:p>
            <a:pPr>
              <a:defRPr sz="1600"/>
            </a:pPr>
            <a:r>
              <a:t>Этап 3 (мес. 15–18): Документация и передача результатов</a:t>
            </a:r>
          </a:p>
          <a:p>
            <a:br/>
            <a:pPr>
              <a:defRPr sz="1200" i="1">
                <a:solidFill>
                  <a:srgbClr val="6B7280"/>
                </a:solidFill>
              </a:defRPr>
            </a:pPr>
            <a:r>
              <a:t>Патентование РИД финансируется из собственных средств заявителя и не включено в бюджет гранта.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